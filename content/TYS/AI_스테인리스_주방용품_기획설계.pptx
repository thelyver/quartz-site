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5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7447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oyye.com/ko/info-detail/how-ai-is-revolutionizing-tableware-productio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E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669280" y="0"/>
            <a:ext cx="54864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AI를 활용한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스테인리스 주방용품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8F5"/>
                </a:solidFill>
              </a:rPr>
              <a:t>실제 사례 3선 + AI 활용 방안 4가지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</a:rPr>
              <a:t>TYS(에델코첸) 관점 적용 전략 포함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16459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× Stainless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D6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Cookware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Sources: Joyye AI, ScienceTimes, Hankyung, Josun, IBM Kerry, McKinsey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2E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 — Contents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319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931920" cy="502920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PART 1 · 실제 사례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600200"/>
            <a:ext cx="3639312" cy="685800"/>
          </a:xfrm>
          <a:prstGeom prst="rect">
            <a:avLst/>
          </a:prstGeom>
          <a:solidFill>
            <a:srgbClr val="D6E8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6B8F"/>
                </a:solidFill>
              </a:rPr>
              <a:t>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645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AI 기반 식기·조리도구 디자인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9659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Joyye AI 플랫폼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423160"/>
            <a:ext cx="3639312" cy="685800"/>
          </a:xfrm>
          <a:prstGeom prst="rect">
            <a:avLst/>
          </a:prstGeom>
          <a:solidFill>
            <a:srgbClr val="D6E8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42316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6B8F"/>
                </a:solidFill>
              </a:rPr>
              <a:t>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주방 가전 AI 기능 탑재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7889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삼성·LG·보쉬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246120"/>
            <a:ext cx="3639312" cy="685800"/>
          </a:xfrm>
          <a:prstGeom prst="rect">
            <a:avLst/>
          </a:prstGeom>
          <a:solidFill>
            <a:srgbClr val="D6E8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" y="3246120"/>
            <a:ext cx="320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6B8F"/>
                </a:solidFill>
              </a:rPr>
              <a:t>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291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AI 스마트 주방 기기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6118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무아스 AI 음식물처리기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2062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754880" y="960120"/>
            <a:ext cx="4206240" cy="502920"/>
          </a:xfrm>
          <a:prstGeom prst="rect">
            <a:avLst/>
          </a:prstGeom>
          <a:solidFill>
            <a:srgbClr val="2782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892040" y="960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PART 2 · AI 활용 방안 4가지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92040" y="1600200"/>
            <a:ext cx="3931920" cy="566928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937760" y="160020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825A"/>
                </a:solidFill>
              </a:rPr>
              <a:t>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16367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리뷰·데이터 기반 프로덕트 큐레이션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191109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구매이유·불만·기회 자동 추출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92040" y="2267712"/>
            <a:ext cx="3931920" cy="566928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937760" y="2267712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825A"/>
                </a:solidFill>
              </a:rPr>
              <a:t>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57800" y="2304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AI 기반 형태·구조 최적화 설계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25786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FEM 시뮬레이션 + 리뷰 연결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92040" y="2935224"/>
            <a:ext cx="3931920" cy="566928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937760" y="2935224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825A"/>
                </a:solidFill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57800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AI 기반 사용자 맞춤형 콘텐츠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324612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조리 스타일별 AI 코칭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92040" y="3602736"/>
            <a:ext cx="3931920" cy="566928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937760" y="3602736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7825A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57800" y="3639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AI 기반 사양·마케팅 메시지 생성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7800" y="391363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상세페이지·후기 템플릿 자동화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C2E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800" dirty="0">
                <a:solidFill>
                  <a:srgbClr val="D6E8F5"/>
                </a:solidFill>
              </a:rPr>
              <a:t>PART 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AI+스테인리스 주방용품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사례 3선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2743200" cy="54864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</a:rPr>
              <a:t>Joyye  ·  삼성·LG·보쉬  ·  무아스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2E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46304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463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E4A"/>
                </a:solidFill>
              </a:rPr>
              <a:t>사례 ①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25880" y="5486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 기반 식기·조리도구 디자인 — Joyye AI 플랫폼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4754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</a:rPr>
              <a:t>사용자 데이터 + 리뷰 기반 형태·구조 최적화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896112"/>
            <a:ext cx="4206240" cy="3950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7160" y="896112"/>
            <a:ext cx="4206240" cy="457200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8961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개요 · What Joyye Does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463040"/>
            <a:ext cx="3977640" cy="868680"/>
          </a:xfrm>
          <a:prstGeom prst="rect">
            <a:avLst/>
          </a:prstGeom>
          <a:solidFill>
            <a:srgbClr val="D6E8F5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20040" y="1508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D6B8F"/>
                </a:solidFill>
              </a:rPr>
              <a:t>방식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17373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AI 알고리즘 + 시장 리뷰 + 사용자 데이터를 결합해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새로운 식기·조리도구 디자인을 자동 생성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2468880"/>
            <a:ext cx="3977640" cy="868680"/>
          </a:xfrm>
          <a:prstGeom prst="rect">
            <a:avLst/>
          </a:prstGeom>
          <a:solidFill>
            <a:srgbClr val="D6E8F5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20040" y="2514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D6B8F"/>
                </a:solidFill>
              </a:rPr>
              <a:t>평가 기준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2743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내구성 · 제조 난이도 · 소비자 선호도를 AI가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동시에 평가해 최적형을 도출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3474720"/>
            <a:ext cx="3977640" cy="868680"/>
          </a:xfrm>
          <a:prstGeom prst="rect">
            <a:avLst/>
          </a:prstGeom>
          <a:solidFill>
            <a:srgbClr val="D6E8F5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20040" y="3520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D6B8F"/>
                </a:solidFill>
              </a:rPr>
              <a:t>출력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3749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형태 · 두께 · 손잡이 위치 · 베이스 구조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자동 최적화 설계안 생성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80560" y="896112"/>
            <a:ext cx="4526280" cy="3950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480560" y="896112"/>
            <a:ext cx="4526280" cy="457200"/>
          </a:xfrm>
          <a:prstGeom prst="rect">
            <a:avLst/>
          </a:prstGeom>
          <a:solidFill>
            <a:srgbClr val="3D6B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617720" y="8961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스테인리스 냄비·웍에 적용하면?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17720" y="1444752"/>
            <a:ext cx="4251960" cy="71323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681728" y="14813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D6B8F"/>
                </a:solidFill>
              </a:rPr>
              <a:t>리뷰 불만 분석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81728" y="170078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무게 · 열 분포 · 손잡이 · 냄새 · 세척 난이도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→ AI가 빈도·감성 점수로 자동 분류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2249424"/>
            <a:ext cx="4251960" cy="71323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681728" y="22860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D6B8F"/>
                </a:solidFill>
              </a:rPr>
              <a:t>형태 자동 최적화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81728" y="250545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불만 패턴 → 형태·두께·손잡이 위치·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베이스 구조를 AI가 자동 설계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3054096"/>
            <a:ext cx="4251960" cy="71323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681728" y="30906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D6B8F"/>
                </a:solidFill>
              </a:rPr>
              <a:t>조리별 라인업 설계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81728" y="331012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볶음용 웍 / 국·찜용 냄비 / 홈메이드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밥솥용 냄비를 AI 기반으로 기획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17720" y="3858768"/>
            <a:ext cx="4251960" cy="713232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681728" y="389534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27825A"/>
                </a:solidFill>
              </a:rPr>
              <a:t>TYS 연결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81728" y="411480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에델코첸 리뷰 '</a:t>
            </a:r>
            <a:r>
              <a:rPr lang="en-US" sz="1050" dirty="0" err="1">
                <a:solidFill>
                  <a:srgbClr val="1E293B"/>
                </a:solidFill>
              </a:rPr>
              <a:t>눌어붙음·인덕션</a:t>
            </a:r>
            <a:r>
              <a:rPr lang="en-US" sz="1050" dirty="0">
                <a:solidFill>
                  <a:srgbClr val="1E293B"/>
                </a:solidFill>
              </a:rPr>
              <a:t> </a:t>
            </a:r>
            <a:r>
              <a:rPr lang="en-US" sz="1050" dirty="0" err="1">
                <a:solidFill>
                  <a:srgbClr val="1E293B"/>
                </a:solidFill>
              </a:rPr>
              <a:t>호환</a:t>
            </a:r>
            <a:r>
              <a:rPr lang="ko-KR" altLang="en-US" sz="1050" dirty="0"/>
              <a:t> </a:t>
            </a:r>
            <a:r>
              <a:rPr lang="en-US" sz="1050" dirty="0" err="1">
                <a:solidFill>
                  <a:srgbClr val="1E293B"/>
                </a:solidFill>
              </a:rPr>
              <a:t>혼란</a:t>
            </a:r>
            <a:r>
              <a:rPr lang="en-US" sz="1050" dirty="0">
                <a:solidFill>
                  <a:srgbClr val="1E293B"/>
                </a:solidFill>
              </a:rPr>
              <a:t>' → 신제품 기획 인풋으로 직결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13</a:t>
            </a:r>
            <a:endParaRPr lang="en-US" sz="9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AEB63E-1FE4-D176-3CC3-A4984C9C19DF}"/>
              </a:ext>
            </a:extLst>
          </p:cNvPr>
          <p:cNvSpPr txBox="1"/>
          <p:nvPr/>
        </p:nvSpPr>
        <p:spPr>
          <a:xfrm>
            <a:off x="201168" y="4448443"/>
            <a:ext cx="40507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hlinkClick r:id="rId3"/>
              </a:rPr>
              <a:t>https://www.joyye.com/ko/info-detail/how-ai-is-revolutionizing-tableware-production</a:t>
            </a:r>
            <a:endParaRPr lang="en-US" altLang="ko-KR" sz="800" dirty="0"/>
          </a:p>
          <a:p>
            <a:endParaRPr lang="ko-KR" alt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2E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46304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463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E4A"/>
                </a:solidFill>
              </a:rPr>
              <a:t>사례 ②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25880" y="5486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주방 가전 AI 기능 탑재 — 삼성·LG·보쉬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4754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</a:rPr>
              <a:t>AI 카메라 + 식재료·조리패턴 분석 → 최적화 조리 추천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914400"/>
            <a:ext cx="2834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82880" y="914400"/>
            <a:ext cx="2834640" cy="438912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92608" y="9144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삼성전자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" y="9326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</a:rPr>
              <a:t>AI 카메라 + 냉장고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" y="1417320"/>
            <a:ext cx="2606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식재료 자동 인식 → 레시피 추천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AI 김치 숙성 최적화 기능 탑재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라 리스트 2025 주방 혁신 선보여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63824" y="914400"/>
            <a:ext cx="2834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163824" y="914400"/>
            <a:ext cx="2834640" cy="438912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273552" y="9144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LG전자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73552" y="9326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</a:rPr>
              <a:t>AI 인덕션·오븐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73552" y="1417320"/>
            <a:ext cx="2606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조리 상태·온도·시간을 AI 학습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최적화된 설정 자동 제안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사용자 습관 기반 레시피 추천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44768" y="914400"/>
            <a:ext cx="2834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144768" y="914400"/>
            <a:ext cx="2834640" cy="438912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254496" y="9144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보쉬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54496" y="93268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</a:rPr>
              <a:t>AI 스마트 오븐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54496" y="1417320"/>
            <a:ext cx="2606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조리 패턴 분석 → 온도·시간 자동 조정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재료 입력 시 최적 모드 제안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유럽 주방 가전 AI 표준으로 정착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" y="2670048"/>
            <a:ext cx="87782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82880" y="27157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6B8F"/>
                </a:solidFill>
              </a:rPr>
              <a:t>→  스테인리스 조리도구 확장 적용 방향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2880" y="3063240"/>
            <a:ext cx="2103120" cy="1764792"/>
          </a:xfrm>
          <a:prstGeom prst="rect">
            <a:avLst/>
          </a:prstGeom>
          <a:solidFill>
            <a:srgbClr val="D6E8F5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74320" y="3108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6B8F"/>
                </a:solidFill>
              </a:rPr>
              <a:t>온도·조리 연동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401568"/>
            <a:ext cx="1920240" cy="0"/>
          </a:xfrm>
          <a:prstGeom prst="line">
            <a:avLst/>
          </a:prstGeom>
          <a:noFill/>
          <a:ln w="6350">
            <a:solidFill>
              <a:srgbClr val="9BBF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74320" y="3447288"/>
            <a:ext cx="19202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스테인리스 냄비·웍에 센서/앱 연동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AI가 예열 강도·불 조절 추천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23160" y="3063240"/>
            <a:ext cx="2103120" cy="1764792"/>
          </a:xfrm>
          <a:prstGeom prst="rect">
            <a:avLst/>
          </a:prstGeom>
          <a:solidFill>
            <a:srgbClr val="D6E8F5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2514600" y="3108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6B8F"/>
                </a:solidFill>
              </a:rPr>
              <a:t>기름 관리 추천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14600" y="3401568"/>
            <a:ext cx="1920240" cy="0"/>
          </a:xfrm>
          <a:prstGeom prst="line">
            <a:avLst/>
          </a:prstGeom>
          <a:noFill/>
          <a:ln w="6350">
            <a:solidFill>
              <a:srgbClr val="9BBF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2514600" y="3447288"/>
            <a:ext cx="19202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사용자 습관 기반 기름 사용량·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코팅 방식 AI 자동 안내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063240"/>
            <a:ext cx="2103120" cy="1764792"/>
          </a:xfrm>
          <a:prstGeom prst="rect">
            <a:avLst/>
          </a:prstGeom>
          <a:solidFill>
            <a:srgbClr val="D6E8F5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754880" y="3108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6B8F"/>
                </a:solidFill>
              </a:rPr>
              <a:t>조리 스타일 분석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401568"/>
            <a:ext cx="1920240" cy="0"/>
          </a:xfrm>
          <a:prstGeom prst="line">
            <a:avLst/>
          </a:prstGeom>
          <a:noFill/>
          <a:ln w="6350">
            <a:solidFill>
              <a:srgbClr val="9BBF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754880" y="3447288"/>
            <a:ext cx="19202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국·볶음·찜·스테이크 사용 패턴 분석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최적 라인업 설계 기획 인풋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03720" y="3063240"/>
            <a:ext cx="2103120" cy="1764792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995160" y="3108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825A"/>
                </a:solidFill>
              </a:rPr>
              <a:t>TYS 연결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995160" y="3401568"/>
            <a:ext cx="1920240" cy="0"/>
          </a:xfrm>
          <a:prstGeom prst="line">
            <a:avLst/>
          </a:prstGeom>
          <a:noFill/>
          <a:ln w="6350">
            <a:solidFill>
              <a:srgbClr val="A5D6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995160" y="3447288"/>
            <a:ext cx="192024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에델코첸 제품 기획 단계에서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AI가 조리 스타일별 라인업 제안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2E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46304"/>
            <a:ext cx="1005840" cy="237744"/>
          </a:xfrm>
          <a:prstGeom prst="roundRect">
            <a:avLst>
              <a:gd name="adj" fmla="val 15385"/>
            </a:avLst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463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E4A"/>
                </a:solidFill>
              </a:rPr>
              <a:t>사례 ③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25880" y="54864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 스마트 주방 기기 — 무아스(Muas) AI 음식물처리기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47548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</a:rPr>
              <a:t>사용자 패턴 AI 분석 → 처리 방식·시간대·작동 빈도 최적화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896112"/>
            <a:ext cx="4206240" cy="3950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7160" y="896112"/>
            <a:ext cx="4206240" cy="457200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" y="8961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무아스 AI 음식물처리기 — 핵심 기능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463040"/>
            <a:ext cx="3977640" cy="694944"/>
          </a:xfrm>
          <a:prstGeom prst="rect">
            <a:avLst/>
          </a:prstGeom>
          <a:solidFill>
            <a:srgbClr val="D6E8F5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20040" y="15087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D6B8F"/>
                </a:solidFill>
              </a:rPr>
              <a:t>분석 대상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171907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사용자의 생활 패턴 + 음식물 종류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+ 처리량을 AI로 실시간 분석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2267712"/>
            <a:ext cx="3977640" cy="694944"/>
          </a:xfrm>
          <a:prstGeom prst="rect">
            <a:avLst/>
          </a:prstGeom>
          <a:solidFill>
            <a:srgbClr val="D6E8F5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20040" y="23134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D6B8F"/>
                </a:solidFill>
              </a:rPr>
              <a:t>최적화 출력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252374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처리 방식 · 시간대 · 작동 빈도를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AI가 자동 최적화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" y="3072384"/>
            <a:ext cx="3977640" cy="694944"/>
          </a:xfrm>
          <a:prstGeom prst="rect">
            <a:avLst/>
          </a:prstGeom>
          <a:solidFill>
            <a:srgbClr val="D6E8F5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20040" y="31181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D6B8F"/>
                </a:solidFill>
              </a:rPr>
              <a:t>기술 기반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332841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2025 중소기업 산업디자인 개발지원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사업 선정 · 한국 중소기업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6032" y="3877056"/>
            <a:ext cx="3977640" cy="694944"/>
          </a:xfrm>
          <a:prstGeom prst="rect">
            <a:avLst/>
          </a:prstGeom>
          <a:solidFill>
            <a:srgbClr val="D6E8F5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20040" y="39227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D6B8F"/>
                </a:solidFill>
              </a:rPr>
              <a:t>의미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413308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IoT+AI로 단순 기기를 '학습하는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제품'으로 전환한 국내 사례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80560" y="896112"/>
            <a:ext cx="4526280" cy="39502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480560" y="896112"/>
            <a:ext cx="4526280" cy="457200"/>
          </a:xfrm>
          <a:prstGeom prst="rect">
            <a:avLst/>
          </a:prstGeom>
          <a:solidFill>
            <a:srgbClr val="3D6B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617720" y="8961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스테인리스 싱크·트레이에 적용하면?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17720" y="1444752"/>
            <a:ext cx="4251960" cy="71323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645152" y="1609344"/>
            <a:ext cx="347472" cy="347472"/>
          </a:xfrm>
          <a:prstGeom prst="ellipse">
            <a:avLst/>
          </a:prstGeom>
          <a:solidFill>
            <a:srgbClr val="3D6B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645152" y="1609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74920" y="14813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6B8F"/>
                </a:solidFill>
              </a:rPr>
              <a:t>데이터 수집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74920" y="17190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세척·배수·식수 패턴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IoT 센서로 실시간 수집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2267712"/>
            <a:ext cx="4251960" cy="71323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645152" y="2432304"/>
            <a:ext cx="347472" cy="347472"/>
          </a:xfrm>
          <a:prstGeom prst="ellipse">
            <a:avLst/>
          </a:prstGeom>
          <a:solidFill>
            <a:srgbClr val="3D6B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645152" y="2432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23042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6B8F"/>
                </a:solidFill>
              </a:rPr>
              <a:t>AI 분석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74920" y="254203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오염 발생 포인트 예측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사용 빈도·시간대 분석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17720" y="3090672"/>
            <a:ext cx="4251960" cy="71323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645152" y="3255264"/>
            <a:ext cx="347472" cy="347472"/>
          </a:xfrm>
          <a:prstGeom prst="ellipse">
            <a:avLst/>
          </a:prstGeom>
          <a:solidFill>
            <a:srgbClr val="3D6B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645152" y="3255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74920" y="31272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6B8F"/>
                </a:solidFill>
              </a:rPr>
              <a:t>설계 최적화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74920" y="33649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구조·배수각·받침대·마감을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AI 분석 결과 기반으로 최적화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17720" y="3913632"/>
            <a:ext cx="4251960" cy="713232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4645152" y="4078224"/>
            <a:ext cx="347472" cy="347472"/>
          </a:xfrm>
          <a:prstGeom prst="ellipse">
            <a:avLst/>
          </a:prstGeom>
          <a:solidFill>
            <a:srgbClr val="2782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645152" y="4078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74920" y="39502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825A"/>
                </a:solidFill>
              </a:rPr>
              <a:t>TYS 연결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74920" y="41879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에델코첸 씽크·정수 라인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기획 단계 AI 인풋으로 활용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782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A5C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800" dirty="0">
                <a:solidFill>
                  <a:srgbClr val="A7D7B8"/>
                </a:solidFill>
              </a:rPr>
              <a:t>PART 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활용 방안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4가지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2743200" cy="54864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38221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7D7B8"/>
                </a:solidFill>
              </a:rPr>
              <a:t>리뷰 큐레이션  ·  형태 설계  ·  콘텐츠  ·  마케팅 메시지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5C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E4A"/>
                </a:solidFill>
              </a:rPr>
              <a:t>방안 1 /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00200" y="5486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리뷰·데이터 기반 프로덕트 큐레이션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4754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D7B8"/>
                </a:solidFill>
              </a:rPr>
              <a:t>구매 이유 · 불만 · 기회를 AI가 자동 추출 → 라인업 기획 인풋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932688"/>
            <a:ext cx="2834640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82880" y="932688"/>
            <a:ext cx="2834640" cy="475488"/>
          </a:xfrm>
          <a:prstGeom prst="rect">
            <a:avLst/>
          </a:prstGeom>
          <a:solidFill>
            <a:srgbClr val="2782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92608" y="93268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D7B8"/>
                </a:solidFill>
              </a:rPr>
              <a:t>STEP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" y="95097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</a:rPr>
              <a:t>데이터 수집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1490472"/>
            <a:ext cx="2560320" cy="347472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14904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쿠팡·네이버 리뷰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1920240"/>
            <a:ext cx="2560320" cy="347472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84048" y="19202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블로그·카페 후기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350008"/>
            <a:ext cx="2560320" cy="347472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84048" y="23500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커뮤니티 게시글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779776"/>
            <a:ext cx="2560320" cy="347472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84048" y="27797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CS 문의 내용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54680" y="932688"/>
            <a:ext cx="2834640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154680" y="932688"/>
            <a:ext cx="2834640" cy="475488"/>
          </a:xfrm>
          <a:prstGeom prst="rect">
            <a:avLst/>
          </a:prstGeom>
          <a:solidFill>
            <a:srgbClr val="2782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264408" y="93268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D7B8"/>
                </a:solidFill>
              </a:rPr>
              <a:t>STEP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64408" y="95097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</a:rPr>
              <a:t>AI 분석·분류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91840" y="1490472"/>
            <a:ext cx="2560320" cy="347472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355848" y="14904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구매 이유 추출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91840" y="1920240"/>
            <a:ext cx="2560320" cy="347472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355848" y="19202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불만 키워드 분류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91840" y="2350008"/>
            <a:ext cx="2560320" cy="347472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355848" y="23500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감성 점수 산출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91840" y="2779776"/>
            <a:ext cx="2560320" cy="347472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355848" y="27797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빈도·트렌드 분석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26480" y="932688"/>
            <a:ext cx="2834640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126480" y="932688"/>
            <a:ext cx="2834640" cy="475488"/>
          </a:xfrm>
          <a:prstGeom prst="rect">
            <a:avLst/>
          </a:prstGeom>
          <a:solidFill>
            <a:srgbClr val="2782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236208" y="93268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D7B8"/>
                </a:solidFill>
              </a:rPr>
              <a:t>STEP 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36208" y="95097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</a:rPr>
              <a:t>기획 인풋 도출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63640" y="1490472"/>
            <a:ext cx="2560320" cy="347472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327648" y="149047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구매이유 TOP 5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63640" y="1920240"/>
            <a:ext cx="2560320" cy="347472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327648" y="19202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불만 개선 포인트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63640" y="2350008"/>
            <a:ext cx="2560320" cy="347472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327648" y="23500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신제품 기회 영역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263640" y="2779776"/>
            <a:ext cx="2560320" cy="347472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6327648" y="277977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• 라인업 방향 제안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017520" y="2148840"/>
            <a:ext cx="228600" cy="137160"/>
          </a:xfrm>
          <a:prstGeom prst="rect">
            <a:avLst/>
          </a:prstGeom>
          <a:solidFill>
            <a:srgbClr val="2782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5989320" y="2148840"/>
            <a:ext cx="228600" cy="137160"/>
          </a:xfrm>
          <a:prstGeom prst="rect">
            <a:avLst/>
          </a:prstGeom>
          <a:solidFill>
            <a:srgbClr val="2782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37160" y="3584448"/>
            <a:ext cx="88696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137160" y="3584448"/>
            <a:ext cx="8869680" cy="384048"/>
          </a:xfrm>
          <a:prstGeom prst="rect">
            <a:avLst/>
          </a:prstGeom>
          <a:solidFill>
            <a:srgbClr val="1A5C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274320" y="358444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에델코첸 스테인리스 냄비 리뷰 AI 분석 결과 예시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74320" y="40416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825A"/>
                </a:solidFill>
              </a:rPr>
              <a:t>구매이유 TOP: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508760" y="4041648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스테인리스 재질  ·  인덕션 호환  ·  내구성  ·  위생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74320" y="4297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825A"/>
                </a:solidFill>
              </a:rPr>
              <a:t>주요 불만: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508760" y="4297680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무게·눌어붙음·인덕션 호환 혼란·손잡이 뜨거움·세척 어려움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74320" y="45537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825A"/>
                </a:solidFill>
              </a:rPr>
              <a:t>기획 기회: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508760" y="4553712"/>
            <a:ext cx="7406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경량 3중 구조  ·  인덕션 호환 명확 표기  ·  초보자 가이드 동봉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5C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E4A"/>
                </a:solidFill>
              </a:rPr>
              <a:t>방안 2 /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00200" y="5486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 기반 형태·구조 최적화 설계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4754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D7B8"/>
                </a:solidFill>
              </a:rPr>
              <a:t>AI 설계 알고리즘 + FEM 시뮬레이션 + 리뷰 키워드 연결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914400"/>
            <a:ext cx="2834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82880" y="914400"/>
            <a:ext cx="2834640" cy="402336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92608" y="9144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설계 알고리즘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13716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리뷰 불만 키워드를 구조 파라미터로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변환해 설계 공간 자동 탐색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54680" y="914400"/>
            <a:ext cx="2834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154680" y="914400"/>
            <a:ext cx="2834640" cy="402336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264408" y="9144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FEM 열·유체 시뮬레이션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64408" y="13716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바닥 두께·열 분포·유체 흐름을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시뮬레이션으로 검증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914400"/>
            <a:ext cx="28346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126480" y="914400"/>
            <a:ext cx="2834640" cy="402336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36208" y="9144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리뷰 키워드 연결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36208" y="13716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소비자 불만(무게·냄새·세척 난이도)을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설계 목표 변수로 직접 연결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37160" y="2450592"/>
            <a:ext cx="8869680" cy="347472"/>
          </a:xfrm>
          <a:prstGeom prst="rect">
            <a:avLst/>
          </a:prstGeom>
          <a:solidFill>
            <a:srgbClr val="2782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74320" y="24505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AI가 도출하는 '조리별 최적 스테인리스 라인업' 예시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2880" y="2852928"/>
            <a:ext cx="208483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56032" y="2907792"/>
            <a:ext cx="658368" cy="228600"/>
          </a:xfrm>
          <a:prstGeom prst="roundRect">
            <a:avLst>
              <a:gd name="adj" fmla="val 16000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256032" y="290779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825A"/>
                </a:solidFill>
              </a:rPr>
              <a:t>볶음용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318211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스테인리스 웍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3538728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두께 2.5T / 경사각 38° / 통3중 / 경량 핸들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395728" y="2852928"/>
            <a:ext cx="208483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468880" y="2907792"/>
            <a:ext cx="658368" cy="228600"/>
          </a:xfrm>
          <a:prstGeom prst="roundRect">
            <a:avLst>
              <a:gd name="adj" fmla="val 16000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468880" y="290779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825A"/>
                </a:solidFill>
              </a:rPr>
              <a:t>국·찜용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87168" y="318211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스테인리스 냄비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87168" y="3538728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바닥 3.5T / 열 분산 특수 베이스 / 뚜껑 스팀홀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08576" y="2852928"/>
            <a:ext cx="208483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681728" y="2907792"/>
            <a:ext cx="658368" cy="228600"/>
          </a:xfrm>
          <a:prstGeom prst="roundRect">
            <a:avLst>
              <a:gd name="adj" fmla="val 16000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681728" y="290779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825A"/>
                </a:solidFill>
              </a:rPr>
              <a:t>밥솥용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00016" y="318211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스테인리스 냄비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00016" y="3538728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바닥 4T / 고온 밀봉 구조 / IH 최적화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821424" y="2852928"/>
            <a:ext cx="208483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6894576" y="2907792"/>
            <a:ext cx="658368" cy="228600"/>
          </a:xfrm>
          <a:prstGeom prst="roundRect">
            <a:avLst>
              <a:gd name="adj" fmla="val 16000"/>
            </a:avLst>
          </a:prstGeom>
          <a:solidFill>
            <a:srgbClr val="D4ED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894576" y="290779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7825A"/>
                </a:solidFill>
              </a:rPr>
              <a:t>다목적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12864" y="3182112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소스팬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12864" y="3538728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1.8T / 롱핸들 / 인덕션·가스 겸용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412480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5C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E4A"/>
                </a:solidFill>
              </a:rPr>
              <a:t>방안 3 /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00200" y="5486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 기반 사용자 맞춤형 콘텐츠·교육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4754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D7B8"/>
                </a:solidFill>
              </a:rPr>
              <a:t>조리 스타일·환경·습관을 AI가 분석 → 맞춤 코칭 콘텐츠 자동 제공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914400"/>
            <a:ext cx="8869680" cy="594360"/>
          </a:xfrm>
          <a:prstGeom prst="rect">
            <a:avLst/>
          </a:prstGeom>
          <a:solidFill>
            <a:srgbClr val="D6E8F5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4320" y="9144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6B8F"/>
                </a:solidFill>
              </a:rPr>
              <a:t>왜 필요한가?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914400"/>
            <a:ext cx="7178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스테인리스 제품의 '사용법·예열·기름 코팅·관리법'을 모르는 초보 구매자가 많음 → CS 급증 + 부정 리뷰 발생 → AI 기반 맞춤 가이드로 선제 해결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" y="1600200"/>
            <a:ext cx="237744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37160" y="1600200"/>
            <a:ext cx="2377440" cy="411480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56032" y="1600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사용자 입력 정보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" y="2103120"/>
            <a:ext cx="2148840" cy="384048"/>
          </a:xfrm>
          <a:prstGeom prst="rect">
            <a:avLst/>
          </a:prstGeom>
          <a:solidFill>
            <a:srgbClr val="D6E8F5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20040" y="2103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요리 스타일 (국·볶음·찜·스테이크)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2560320"/>
            <a:ext cx="2148840" cy="384048"/>
          </a:xfrm>
          <a:prstGeom prst="rect">
            <a:avLst/>
          </a:prstGeom>
          <a:solidFill>
            <a:srgbClr val="D6E8F5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0040" y="2560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조리 시간대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3017520"/>
            <a:ext cx="2148840" cy="384048"/>
          </a:xfrm>
          <a:prstGeom prst="rect">
            <a:avLst/>
          </a:prstGeom>
          <a:solidFill>
            <a:srgbClr val="D6E8F5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20040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주방 환경 (IH·가스·전기)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3474720"/>
            <a:ext cx="2148840" cy="384048"/>
          </a:xfrm>
          <a:prstGeom prst="rect">
            <a:avLst/>
          </a:prstGeom>
          <a:solidFill>
            <a:srgbClr val="D6E8F5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20040" y="34747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숙련도 (초보·중급·고수)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3931920"/>
            <a:ext cx="2148840" cy="384048"/>
          </a:xfrm>
          <a:prstGeom prst="rect">
            <a:avLst/>
          </a:prstGeom>
          <a:solidFill>
            <a:srgbClr val="D6E8F5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20040" y="3931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보유 제품 모델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88920" y="1600200"/>
            <a:ext cx="1645920" cy="3154680"/>
          </a:xfrm>
          <a:prstGeom prst="rect">
            <a:avLst/>
          </a:prstGeom>
          <a:solidFill>
            <a:srgbClr val="2782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788920" y="26517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분석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엔진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560320" y="219456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7825A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34840" y="219456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7825A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560320" y="301752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7825A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34840" y="301752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7825A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560320" y="384048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7825A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34840" y="384048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7825A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63440" y="1600200"/>
            <a:ext cx="434340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663440" y="1600200"/>
            <a:ext cx="4343400" cy="411480"/>
          </a:xfrm>
          <a:prstGeom prst="rect">
            <a:avLst/>
          </a:prstGeom>
          <a:solidFill>
            <a:srgbClr val="2782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800600" y="16002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맞춤 코칭 콘텐츠 출력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00600" y="2084832"/>
            <a:ext cx="4069080" cy="42062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864608" y="208483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6B8F"/>
                </a:solidFill>
              </a:rPr>
              <a:t>예열 가이드: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06440" y="2084832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"이 냄비는 중불 2분 예열 후 기름을 두르세요"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2578608"/>
            <a:ext cx="4069080" cy="42062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864608" y="257860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6B8F"/>
                </a:solidFill>
              </a:rPr>
              <a:t>기름 코팅법: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06440" y="2578608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"볶음 요리 전 올리브유 1T 코팅 → 5분 가열"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00600" y="3072384"/>
            <a:ext cx="4069080" cy="42062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864608" y="307238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6B8F"/>
                </a:solidFill>
              </a:rPr>
              <a:t>제품 추천: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06440" y="3072384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"볶음밥이 많으시면 통3중 웍이 더 좋습니다"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00600" y="3566160"/>
            <a:ext cx="4069080" cy="420624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864608" y="356616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6B8F"/>
                </a:solidFill>
              </a:rPr>
              <a:t>세척 팁: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806440" y="3566160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"소다+식초 10분 → 부드러운 스펀지 세척"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00600" y="4059936"/>
            <a:ext cx="4069080" cy="420624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864608" y="405993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825A"/>
                </a:solidFill>
              </a:rPr>
              <a:t>TYS 연결: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806440" y="4059936"/>
            <a:ext cx="2999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에델코첸 CS 비용 절감 + 재구매율 향상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32104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5C3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82880" y="128016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82880" y="1280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2E4A"/>
                </a:solidFill>
              </a:rPr>
              <a:t>방안 4 /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00200" y="5486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 기반 사양·마케팅 메시지 자동 생성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4754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7D7B8"/>
                </a:solidFill>
              </a:rPr>
              <a:t>리뷰·설문·데이터 → 소비자 공감 키워드 → 콘텐츠 자동 생성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914400"/>
            <a:ext cx="8869680" cy="566928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28600" y="9144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①  리뷰/설문/CS 데이터 수집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50592" y="9144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→  ②  AI가 중요 스펙·차별화 키워드 추출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72584" y="9144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→  ③  소비자 공감 표현 도출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94576" y="9144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→  ④  콘텐츠 자동 생성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2880" y="1600200"/>
            <a:ext cx="2084832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82880" y="1600200"/>
            <a:ext cx="2084832" cy="457200"/>
          </a:xfrm>
          <a:prstGeom prst="rect">
            <a:avLst/>
          </a:prstGeom>
          <a:solidFill>
            <a:srgbClr val="3D6B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92608" y="1600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스펙 문서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" y="2148840"/>
            <a:ext cx="1874520" cy="71323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47472" y="2148840"/>
            <a:ext cx="1764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가장 중요한 스펙 순위 자동 도출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" y="2971800"/>
            <a:ext cx="1874520" cy="71323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47472" y="2971800"/>
            <a:ext cx="1764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재질·구조·호환 정보 최적 배열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2608" y="3794760"/>
            <a:ext cx="1874520" cy="71323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47472" y="3794760"/>
            <a:ext cx="1764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경쟁사 대비 차별점 명확화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95728" y="1600200"/>
            <a:ext cx="2084832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395728" y="1600200"/>
            <a:ext cx="2084832" cy="457200"/>
          </a:xfrm>
          <a:prstGeom prst="rect">
            <a:avLst/>
          </a:prstGeom>
          <a:solidFill>
            <a:srgbClr val="3D6B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2505456" y="1600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상세페이지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05456" y="2148840"/>
            <a:ext cx="1874520" cy="71323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560320" y="2148840"/>
            <a:ext cx="1764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소비자 공감 표현으로 카피 자동 생성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05456" y="2971800"/>
            <a:ext cx="1874520" cy="71323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560320" y="2971800"/>
            <a:ext cx="1764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불만 해결 포인트를 장점으로 전환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05456" y="3794760"/>
            <a:ext cx="1874520" cy="71323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2560320" y="3794760"/>
            <a:ext cx="1764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이미지 캡션·태그 자동 제안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08576" y="1600200"/>
            <a:ext cx="2084832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608576" y="1600200"/>
            <a:ext cx="2084832" cy="457200"/>
          </a:xfrm>
          <a:prstGeom prst="rect">
            <a:avLst/>
          </a:prstGeom>
          <a:solidFill>
            <a:srgbClr val="3D6B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718304" y="1600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블로그·카페 후기 템플릿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18304" y="2148840"/>
            <a:ext cx="1874520" cy="71323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773168" y="2148840"/>
            <a:ext cx="1764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자연스러운 사용기 형식 자동 생성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18304" y="2971800"/>
            <a:ext cx="1874520" cy="71323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773168" y="2971800"/>
            <a:ext cx="1764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조리별 시나리오 후기 템플릿 제공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18304" y="3794760"/>
            <a:ext cx="1874520" cy="713232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773168" y="3794760"/>
            <a:ext cx="1764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SEO 키워드 자동 삽입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21424" y="1600200"/>
            <a:ext cx="2084832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5DFC9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6821424" y="1600200"/>
            <a:ext cx="2084832" cy="457200"/>
          </a:xfrm>
          <a:prstGeom prst="rect">
            <a:avLst/>
          </a:prstGeom>
          <a:solidFill>
            <a:srgbClr val="2782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931152" y="16002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TYS 에델코첸 적용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931152" y="2148840"/>
            <a:ext cx="1874520" cy="713232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986016" y="2148840"/>
            <a:ext cx="1764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쿠팡 상세페이지 AI 초안 즉시 생성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931152" y="2971800"/>
            <a:ext cx="1874520" cy="713232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986016" y="2971800"/>
            <a:ext cx="1764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영업 제안서 마케팅 메시지 자동화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31152" y="3794760"/>
            <a:ext cx="1874520" cy="713232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986016" y="3794760"/>
            <a:ext cx="1764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• 신제품 출시 카피 준비 기간 단축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32104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C2E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8686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TYS(에델코첸) 종합 적용 전략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896112"/>
            <a:ext cx="3200400" cy="384048"/>
          </a:xfrm>
          <a:prstGeom prst="rect">
            <a:avLst/>
          </a:prstGeom>
          <a:solidFill>
            <a:srgbClr val="3D6B8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331720" y="8961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즉시 가능 (0~6개월)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23560" y="896112"/>
            <a:ext cx="3383280" cy="384048"/>
          </a:xfrm>
          <a:prstGeom prst="rect">
            <a:avLst/>
          </a:prstGeom>
          <a:solidFill>
            <a:srgbClr val="2782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623560" y="8961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중기 목표 (6개월~1년)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" y="1371600"/>
            <a:ext cx="2103120" cy="804672"/>
          </a:xfrm>
          <a:prstGeom prst="rect">
            <a:avLst/>
          </a:prstGeom>
          <a:solidFill>
            <a:srgbClr val="2E405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01168" y="1371600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방안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리뷰 큐레이션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31720" y="1371600"/>
            <a:ext cx="3200400" cy="804672"/>
          </a:xfrm>
          <a:prstGeom prst="rect">
            <a:avLst/>
          </a:prstGeom>
          <a:solidFill>
            <a:srgbClr val="D6E8F5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423160" y="141732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쿠팡·네이버 냄비 리뷰 AI 수집·분석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→ 불만 TOP 5 주간 리포트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23560" y="1371600"/>
            <a:ext cx="3383280" cy="804672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715000" y="141732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분기별 신제품 기획 인풋 자동화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→ 라인업 조정 의사결정 지원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37160" y="2267712"/>
            <a:ext cx="2103120" cy="804672"/>
          </a:xfrm>
          <a:prstGeom prst="rect">
            <a:avLst/>
          </a:prstGeom>
          <a:solidFill>
            <a:srgbClr val="2E405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01168" y="2267712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방안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형태 설계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31720" y="2267712"/>
            <a:ext cx="3200400" cy="804672"/>
          </a:xfrm>
          <a:prstGeom prst="rect">
            <a:avLst/>
          </a:prstGeom>
          <a:solidFill>
            <a:srgbClr val="D6E8F5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423160" y="231343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리뷰 키워드 → 설계 파라미터 변환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파일럿 1개 제품 AI 설계 시도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23560" y="2267712"/>
            <a:ext cx="3383280" cy="804672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715000" y="231343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조리별 스테인리스 라인업 재설계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FEM 시뮬레이션 연동 풀 자동화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37160" y="3163824"/>
            <a:ext cx="2103120" cy="804672"/>
          </a:xfrm>
          <a:prstGeom prst="rect">
            <a:avLst/>
          </a:prstGeom>
          <a:solidFill>
            <a:srgbClr val="2E405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01168" y="3163824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방안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맞춤 콘텐츠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31720" y="3163824"/>
            <a:ext cx="3200400" cy="804672"/>
          </a:xfrm>
          <a:prstGeom prst="rect">
            <a:avLst/>
          </a:prstGeom>
          <a:solidFill>
            <a:srgbClr val="D6E8F5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2423160" y="320954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자사몰·쿠팡 CS 봇 도입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'세척·예열·인덕션 호환' 자동 응대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23560" y="3163824"/>
            <a:ext cx="3383280" cy="804672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715000" y="320954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조리 스타일별 AI 코칭 서비스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앱/챗봇 기반 재구매 유도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37160" y="4059936"/>
            <a:ext cx="2103120" cy="804672"/>
          </a:xfrm>
          <a:prstGeom prst="rect">
            <a:avLst/>
          </a:prstGeom>
          <a:solidFill>
            <a:srgbClr val="2E405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01168" y="4059936"/>
            <a:ext cx="1965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방안 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마케팅 메시지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331720" y="4059936"/>
            <a:ext cx="3200400" cy="804672"/>
          </a:xfrm>
          <a:prstGeom prst="rect">
            <a:avLst/>
          </a:prstGeom>
          <a:solidFill>
            <a:srgbClr val="D6E8F5"/>
          </a:solidFill>
          <a:ln w="635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2423160" y="410565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쿠팡 상세페이지 AI 초안 생성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시즌 프로모션 카피 자동화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23560" y="4059936"/>
            <a:ext cx="3383280" cy="804672"/>
          </a:xfrm>
          <a:prstGeom prst="rect">
            <a:avLst/>
          </a:prstGeom>
          <a:solidFill>
            <a:srgbClr val="D4EDDA"/>
          </a:solidFill>
          <a:ln w="6350">
            <a:solidFill>
              <a:srgbClr val="C5D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715000" y="410565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영업 제안서 AI 맞춤화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신제품 출시 전 카피 A/B 테스트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32104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E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9728" y="3657600"/>
            <a:ext cx="9034272" cy="1485900"/>
          </a:xfrm>
          <a:prstGeom prst="rect">
            <a:avLst/>
          </a:prstGeom>
          <a:solidFill>
            <a:srgbClr val="2E40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B0BEC5"/>
                </a:solidFill>
              </a:rPr>
              <a:t>결론 · Key Takeaways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AI는 이미 주방용품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기획·설계의 핵심 도구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1828800" cy="4572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201168" cy="201168"/>
          </a:xfrm>
          <a:prstGeom prst="ellipse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49808" y="2542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</a:rPr>
              <a:t>리뷰 데이터 → AI 분석 → 신제품 기획 · 기존 대비 개발기간 1/3 단축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62072"/>
            <a:ext cx="201168" cy="201168"/>
          </a:xfrm>
          <a:prstGeom prst="ellipse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49808" y="28437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</a:rPr>
              <a:t>형태·구조 최적화 · 불만 키워드가 설계 파라미터로 직접 연결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63824"/>
            <a:ext cx="201168" cy="201168"/>
          </a:xfrm>
          <a:prstGeom prst="ellipse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49808" y="31455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</a:rPr>
              <a:t>맞춤 콘텐츠 · CS 비용 절감 + 재구매율 향상 동시 달성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65576"/>
            <a:ext cx="201168" cy="201168"/>
          </a:xfrm>
          <a:prstGeom prst="ellipse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49808" y="34472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</a:rPr>
              <a:t>마케팅 메시지 · 상세페이지·제안서 AI 초안으로 속도 10배 향상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749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에델코첸(TYS) — 지금 당장 시작할 수 있는 것부터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133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리뷰 AI 분석  →  CS 챗봇  →  상세페이지 자동화  →  형태 최적화 설계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Sources: Joyye AI · ScienceTimes · Hankyung · Chosun · IBM/Kerry · McKinsey · Samsung · LG · Muas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1530</Words>
  <Application>Microsoft Macintosh PowerPoint</Application>
  <PresentationFormat>화면 슬라이드 쇼(16:9)</PresentationFormat>
  <Paragraphs>296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AI를 활용한 스테인리스 주방용품 기획·설계</dc:title>
  <dc:subject>PptxGenJS Presentation</dc:subject>
  <dc:creator>PptxGenJS</dc:creator>
  <cp:lastModifiedBy>강수근</cp:lastModifiedBy>
  <cp:revision>2</cp:revision>
  <dcterms:created xsi:type="dcterms:W3CDTF">2026-04-14T09:22:35Z</dcterms:created>
  <dcterms:modified xsi:type="dcterms:W3CDTF">2026-04-14T09:29:10Z</dcterms:modified>
</cp:coreProperties>
</file>